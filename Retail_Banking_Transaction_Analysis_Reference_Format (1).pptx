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73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anikanta-datascience/" TargetMode="Externa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2.wav"/><Relationship Id="rId5" Type="http://schemas.openxmlformats.org/officeDocument/2006/relationships/image" Target="../media/image3.png"/><Relationship Id="rId4" Type="http://schemas.openxmlformats.org/officeDocument/2006/relationships/hyperlink" Target="https://github.com/babamanikant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3.wav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4.wav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5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6.wav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7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8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9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0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assets/title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4042529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400"/>
            <a:r>
              <a:rPr lang="en-US" sz="3000" b="1" dirty="0" smtClean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Retail Banking Transaction Analysis</a:t>
            </a:r>
            <a:endParaRPr lang="en-US" sz="3000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6120" y="50292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2628"/>
                </a:solidFill>
                <a:latin typeface="Arial"/>
              </a:rPr>
              <a:t>MYSQL DATABASE PROJECT</a:t>
            </a:r>
          </a:p>
        </p:txBody>
      </p:sp>
      <p:pic>
        <p:nvPicPr>
          <p:cNvPr id="6" name="~PP1226.WAV">
            <a:hlinkClick r:id="" action="ppaction://media"/>
          </p:cNvPr>
          <p:cNvPicPr>
            <a:picLocks noRot="1" noChangeAspect="1"/>
          </p:cNvPicPr>
          <p:nvPr>
            <a:wavAudioFile r:embed="rId1" name="~PP1226.WAV"/>
          </p:nvPr>
        </p:nvPicPr>
        <p:blipFill>
          <a:blip r:embed="rId4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60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sp>
        <p:nvSpPr>
          <p:cNvPr id="13" name="TextBox 1"/>
          <p:cNvSpPr txBox="1"/>
          <p:nvPr/>
        </p:nvSpPr>
        <p:spPr>
          <a:xfrm>
            <a:off x="792480" y="676656"/>
            <a:ext cx="1051560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600" b="1">
                <a:solidFill>
                  <a:srgbClr val="C00000"/>
                </a:solidFill>
                <a:latin typeface="Aptos"/>
              </a:rPr>
              <a:t>Meet the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80" y="1289304"/>
            <a:ext cx="1097280" cy="54864"/>
          </a:xfrm>
          <a:prstGeom prst="rect">
            <a:avLst/>
          </a:prstGeom>
          <a:solidFill>
            <a:srgbClr val="C4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3"/>
          <p:cNvSpPr txBox="1"/>
          <p:nvPr/>
        </p:nvSpPr>
        <p:spPr>
          <a:xfrm>
            <a:off x="792480" y="1408176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50" b="0">
                <a:solidFill>
                  <a:srgbClr val="5F6973"/>
                </a:solidFill>
                <a:latin typeface="Aptos"/>
              </a:rPr>
              <a:t>PROJECT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640" y="1929384"/>
            <a:ext cx="2926080" cy="4251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TextBox 8"/>
          <p:cNvSpPr txBox="1"/>
          <p:nvPr/>
        </p:nvSpPr>
        <p:spPr>
          <a:xfrm>
            <a:off x="1158240" y="2267162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900" b="1">
                <a:solidFill>
                  <a:srgbClr val="12263F"/>
                </a:solidFill>
                <a:latin typeface="Aptos"/>
              </a:rPr>
              <a:t>K. Baba Manikanta</a:t>
            </a:r>
          </a:p>
        </p:txBody>
      </p:sp>
      <p:sp>
        <p:nvSpPr>
          <p:cNvPr id="20" name="TextBox 9"/>
          <p:cNvSpPr txBox="1"/>
          <p:nvPr/>
        </p:nvSpPr>
        <p:spPr>
          <a:xfrm>
            <a:off x="1249680" y="2645632"/>
            <a:ext cx="2286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0" dirty="0" err="1" smtClean="0">
                <a:solidFill>
                  <a:srgbClr val="5F6973"/>
                </a:solidFill>
                <a:latin typeface="Aptos"/>
              </a:rPr>
              <a:t>B.Tech</a:t>
            </a:r>
            <a:endParaRPr sz="1100" b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22" name="TextBox 11"/>
          <p:cNvSpPr txBox="1"/>
          <p:nvPr/>
        </p:nvSpPr>
        <p:spPr>
          <a:xfrm>
            <a:off x="1341120" y="3071920"/>
            <a:ext cx="219456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/>
              <a:t>Why Data Science ?</a:t>
            </a:r>
          </a:p>
          <a:p>
            <a:r>
              <a:rPr lang="en-US" sz="1200" dirty="0" smtClean="0"/>
              <a:t>Data Science combines technology, analysis, and real-world problem-solving, which interests me. It helps turn raw data into useful insights that can support better business decisions.</a:t>
            </a:r>
            <a:endParaRPr 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4312920" y="1929384"/>
            <a:ext cx="2926080" cy="4251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TextBox 15"/>
          <p:cNvSpPr txBox="1"/>
          <p:nvPr/>
        </p:nvSpPr>
        <p:spPr>
          <a:xfrm>
            <a:off x="4450080" y="2267162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900" b="1">
                <a:solidFill>
                  <a:srgbClr val="12263F"/>
                </a:solidFill>
                <a:latin typeface="Aptos"/>
              </a:rPr>
              <a:t>P. V. S. Rithvik</a:t>
            </a:r>
          </a:p>
        </p:txBody>
      </p:sp>
      <p:sp>
        <p:nvSpPr>
          <p:cNvPr id="29" name="TextBox 18"/>
          <p:cNvSpPr txBox="1"/>
          <p:nvPr/>
        </p:nvSpPr>
        <p:spPr>
          <a:xfrm>
            <a:off x="4815839" y="3118759"/>
            <a:ext cx="2103121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/>
              <a:t>Why Data Science ?</a:t>
            </a:r>
          </a:p>
          <a:p>
            <a:r>
              <a:rPr lang="en-US" sz="1200" dirty="0" smtClean="0"/>
              <a:t>What interests me about Data Science is the ability to turn data into meaningful insights. It combines technical and analytical skills to solve real business problems and support better decisions.</a:t>
            </a:r>
            <a:endParaRPr lang="en-US" sz="1200" dirty="0"/>
          </a:p>
        </p:txBody>
      </p:sp>
      <p:sp>
        <p:nvSpPr>
          <p:cNvPr id="30" name="Rounded Rectangle 29"/>
          <p:cNvSpPr/>
          <p:nvPr/>
        </p:nvSpPr>
        <p:spPr>
          <a:xfrm>
            <a:off x="7696200" y="1929384"/>
            <a:ext cx="2926080" cy="4251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D7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3" name="TextBox 22"/>
          <p:cNvSpPr txBox="1"/>
          <p:nvPr/>
        </p:nvSpPr>
        <p:spPr>
          <a:xfrm>
            <a:off x="7833360" y="2267162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900" b="1">
                <a:solidFill>
                  <a:srgbClr val="12263F"/>
                </a:solidFill>
                <a:latin typeface="Aptos"/>
              </a:rPr>
              <a:t>K. Mahesh Babu</a:t>
            </a:r>
          </a:p>
        </p:txBody>
      </p:sp>
      <p:sp>
        <p:nvSpPr>
          <p:cNvPr id="36" name="TextBox 25"/>
          <p:cNvSpPr txBox="1"/>
          <p:nvPr/>
        </p:nvSpPr>
        <p:spPr>
          <a:xfrm>
            <a:off x="8199120" y="3118759"/>
            <a:ext cx="210312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/>
              <a:t>Why Data Science ?</a:t>
            </a:r>
          </a:p>
          <a:p>
            <a:r>
              <a:rPr lang="en-US" sz="1200" dirty="0" smtClean="0"/>
              <a:t>Data Science connects technology with practical problem-solving. The opportunity to find patterns in data and use them to solve real-world problems is what makes this field interesting to me.</a:t>
            </a:r>
            <a:endParaRPr lang="en-US" sz="1200" dirty="0"/>
          </a:p>
        </p:txBody>
      </p:sp>
      <p:sp>
        <p:nvSpPr>
          <p:cNvPr id="61" name="TextBox 9"/>
          <p:cNvSpPr txBox="1"/>
          <p:nvPr/>
        </p:nvSpPr>
        <p:spPr>
          <a:xfrm>
            <a:off x="4632959" y="2645632"/>
            <a:ext cx="2286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0" dirty="0" err="1" smtClean="0">
                <a:solidFill>
                  <a:srgbClr val="5F6973"/>
                </a:solidFill>
                <a:latin typeface="Aptos"/>
              </a:rPr>
              <a:t>B.Tech</a:t>
            </a:r>
            <a:endParaRPr sz="1100" b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62" name="TextBox 9"/>
          <p:cNvSpPr txBox="1"/>
          <p:nvPr/>
        </p:nvSpPr>
        <p:spPr>
          <a:xfrm>
            <a:off x="7833360" y="2645632"/>
            <a:ext cx="2286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0" dirty="0" err="1" smtClean="0">
                <a:solidFill>
                  <a:srgbClr val="5F6973"/>
                </a:solidFill>
                <a:latin typeface="Aptos"/>
              </a:rPr>
              <a:t>B.Tech</a:t>
            </a:r>
            <a:endParaRPr sz="1100" b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63" name="TextBox 9"/>
          <p:cNvSpPr txBox="1"/>
          <p:nvPr/>
        </p:nvSpPr>
        <p:spPr>
          <a:xfrm>
            <a:off x="1158240" y="4763875"/>
            <a:ext cx="2286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0" dirty="0" smtClean="0">
                <a:solidFill>
                  <a:srgbClr val="5F6973"/>
                </a:solidFill>
                <a:latin typeface="Aptos"/>
              </a:rPr>
              <a:t>Fresher</a:t>
            </a:r>
            <a:endParaRPr sz="1100" b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64" name="TextBox 9"/>
          <p:cNvSpPr txBox="1"/>
          <p:nvPr/>
        </p:nvSpPr>
        <p:spPr>
          <a:xfrm>
            <a:off x="4632959" y="4873085"/>
            <a:ext cx="2286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0" dirty="0" smtClean="0">
                <a:solidFill>
                  <a:srgbClr val="5F6973"/>
                </a:solidFill>
                <a:latin typeface="Aptos"/>
              </a:rPr>
              <a:t>Fresher</a:t>
            </a:r>
            <a:endParaRPr sz="1100" b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65" name="TextBox 9"/>
          <p:cNvSpPr txBox="1"/>
          <p:nvPr/>
        </p:nvSpPr>
        <p:spPr>
          <a:xfrm>
            <a:off x="8016240" y="4894680"/>
            <a:ext cx="22860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0" dirty="0" smtClean="0">
                <a:solidFill>
                  <a:srgbClr val="5F6973"/>
                </a:solidFill>
                <a:latin typeface="Aptos"/>
              </a:rPr>
              <a:t>Fresher</a:t>
            </a:r>
            <a:endParaRPr sz="1100" b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66" name="TextBox 9"/>
          <p:cNvSpPr txBox="1"/>
          <p:nvPr/>
        </p:nvSpPr>
        <p:spPr>
          <a:xfrm>
            <a:off x="929640" y="5134695"/>
            <a:ext cx="2926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 smtClean="0">
                <a:solidFill>
                  <a:srgbClr val="5F6973"/>
                </a:solidFill>
                <a:latin typeface="Aptos"/>
                <a:hlinkClick r:id="rId3"/>
              </a:rPr>
              <a:t>https://www.linkedin.com/in/manikanta-datascience</a:t>
            </a:r>
            <a:endParaRPr sz="1100" b="0">
              <a:solidFill>
                <a:srgbClr val="5F6973"/>
              </a:solidFill>
              <a:latin typeface="Aptos"/>
            </a:endParaRPr>
          </a:p>
        </p:txBody>
      </p:sp>
      <p:sp>
        <p:nvSpPr>
          <p:cNvPr id="67" name="TextBox 9"/>
          <p:cNvSpPr txBox="1"/>
          <p:nvPr/>
        </p:nvSpPr>
        <p:spPr>
          <a:xfrm>
            <a:off x="929640" y="5565582"/>
            <a:ext cx="2926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 err="1" smtClean="0">
                <a:hlinkClick r:id="rId4"/>
              </a:rPr>
              <a:t>babamanikanta</a:t>
            </a:r>
            <a:r>
              <a:rPr lang="en-US" sz="1100" dirty="0" smtClean="0">
                <a:hlinkClick r:id="rId4"/>
              </a:rPr>
              <a:t> (KURMALA CHENCHU BABA MANIKANTA) · </a:t>
            </a:r>
            <a:r>
              <a:rPr lang="en-US" sz="1100" dirty="0" err="1" smtClean="0">
                <a:hlinkClick r:id="rId4"/>
              </a:rPr>
              <a:t>GitHub</a:t>
            </a:r>
            <a:endParaRPr sz="1100" b="0">
              <a:solidFill>
                <a:srgbClr val="5F6973"/>
              </a:solidFill>
              <a:latin typeface="Aptos"/>
            </a:endParaRPr>
          </a:p>
        </p:txBody>
      </p:sp>
      <p:pic>
        <p:nvPicPr>
          <p:cNvPr id="28" name="~PP177.WAV">
            <a:hlinkClick r:id="" action="ppaction://media"/>
          </p:cNvPr>
          <p:cNvPicPr>
            <a:picLocks noRot="1" noChangeAspect="1"/>
          </p:cNvPicPr>
          <p:nvPr>
            <a:wavAudioFile r:embed="rId1" name="~PP177.WAV"/>
          </p:nvPr>
        </p:nvPicPr>
        <p:blipFill>
          <a:blip r:embed="rId5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18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sp>
        <p:nvSpPr>
          <p:cNvPr id="50" name="Text 0"/>
          <p:cNvSpPr/>
          <p:nvPr/>
        </p:nvSpPr>
        <p:spPr>
          <a:xfrm>
            <a:off x="1005840" y="329184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51" name="Text 1"/>
          <p:cNvSpPr/>
          <p:nvPr/>
        </p:nvSpPr>
        <p:spPr>
          <a:xfrm>
            <a:off x="1005840" y="603504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Overview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52" name="Text 2"/>
          <p:cNvSpPr/>
          <p:nvPr/>
        </p:nvSpPr>
        <p:spPr>
          <a:xfrm>
            <a:off x="609905" y="1453896"/>
            <a:ext cx="5577840" cy="182880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400" dirty="0" smtClean="0">
                <a:solidFill>
                  <a:srgbClr val="1A1A1A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Retail </a:t>
            </a:r>
            <a:r>
              <a:rPr lang="en-US" sz="1400" dirty="0">
                <a:solidFill>
                  <a:srgbClr val="1A1A1A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Bank serves customers through accounts, cards, and loans across a multi-branch network. As a Data Analyst supporting the Retail Banking team, this project moves from raw transactional data to data-driven business insight — understanding customers, account activity, transaction patterns, and loan performance.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609905" y="3310128"/>
            <a:ext cx="329184" cy="329184"/>
          </a:xfrm>
          <a:prstGeom prst="ellipse">
            <a:avLst/>
          </a:prstGeom>
          <a:solidFill>
            <a:srgbClr val="1A1A1A"/>
          </a:solidFill>
        </p:spPr>
      </p:sp>
      <p:sp>
        <p:nvSpPr>
          <p:cNvPr id="54" name="Text 4"/>
          <p:cNvSpPr/>
          <p:nvPr/>
        </p:nvSpPr>
        <p:spPr>
          <a:xfrm>
            <a:off x="609905" y="331012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Text 5"/>
          <p:cNvSpPr/>
          <p:nvPr/>
        </p:nvSpPr>
        <p:spPr>
          <a:xfrm>
            <a:off x="1067105" y="3282696"/>
            <a:ext cx="5120640" cy="38404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Understand the business &amp; data model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Shape 6"/>
          <p:cNvSpPr/>
          <p:nvPr/>
        </p:nvSpPr>
        <p:spPr>
          <a:xfrm>
            <a:off x="609905" y="3877056"/>
            <a:ext cx="329184" cy="329184"/>
          </a:xfrm>
          <a:prstGeom prst="ellipse">
            <a:avLst/>
          </a:prstGeom>
          <a:solidFill>
            <a:srgbClr val="1A1A1A"/>
          </a:solidFill>
        </p:spPr>
      </p:sp>
      <p:sp>
        <p:nvSpPr>
          <p:cNvPr id="57" name="Text 7"/>
          <p:cNvSpPr/>
          <p:nvPr/>
        </p:nvSpPr>
        <p:spPr>
          <a:xfrm>
            <a:off x="609905" y="3877056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Text 8"/>
          <p:cNvSpPr/>
          <p:nvPr/>
        </p:nvSpPr>
        <p:spPr>
          <a:xfrm>
            <a:off x="1067105" y="3849624"/>
            <a:ext cx="5120640" cy="38404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Build the MySQL database from the ER diagram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609905" y="4443984"/>
            <a:ext cx="329184" cy="329184"/>
          </a:xfrm>
          <a:prstGeom prst="ellipse">
            <a:avLst/>
          </a:prstGeom>
          <a:solidFill>
            <a:srgbClr val="1A1A1A"/>
          </a:solidFill>
        </p:spPr>
      </p:sp>
      <p:sp>
        <p:nvSpPr>
          <p:cNvPr id="60" name="Text 10"/>
          <p:cNvSpPr/>
          <p:nvPr/>
        </p:nvSpPr>
        <p:spPr>
          <a:xfrm>
            <a:off x="609905" y="444398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300" dirty="0"/>
          </a:p>
        </p:txBody>
      </p:sp>
      <p:sp>
        <p:nvSpPr>
          <p:cNvPr id="61" name="Text 11"/>
          <p:cNvSpPr/>
          <p:nvPr/>
        </p:nvSpPr>
        <p:spPr>
          <a:xfrm>
            <a:off x="1067105" y="4416552"/>
            <a:ext cx="5120640" cy="38404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Explore &amp; analyze data with SQL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Shape 12"/>
          <p:cNvSpPr/>
          <p:nvPr/>
        </p:nvSpPr>
        <p:spPr>
          <a:xfrm>
            <a:off x="609905" y="5010912"/>
            <a:ext cx="329184" cy="329184"/>
          </a:xfrm>
          <a:prstGeom prst="ellipse">
            <a:avLst/>
          </a:prstGeom>
          <a:solidFill>
            <a:srgbClr val="1A1A1A"/>
          </a:solidFill>
        </p:spPr>
      </p:sp>
      <p:sp>
        <p:nvSpPr>
          <p:cNvPr id="63" name="Text 13"/>
          <p:cNvSpPr/>
          <p:nvPr/>
        </p:nvSpPr>
        <p:spPr>
          <a:xfrm>
            <a:off x="609905" y="501091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300" dirty="0"/>
          </a:p>
        </p:txBody>
      </p:sp>
      <p:sp>
        <p:nvSpPr>
          <p:cNvPr id="64" name="Text 14"/>
          <p:cNvSpPr/>
          <p:nvPr/>
        </p:nvSpPr>
        <p:spPr>
          <a:xfrm>
            <a:off x="1067105" y="4983480"/>
            <a:ext cx="5120640" cy="384048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Translate results into business insight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Shape 15"/>
          <p:cNvSpPr/>
          <p:nvPr/>
        </p:nvSpPr>
        <p:spPr>
          <a:xfrm>
            <a:off x="6736385" y="171450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6" name="Text 16"/>
          <p:cNvSpPr/>
          <p:nvPr/>
        </p:nvSpPr>
        <p:spPr>
          <a:xfrm>
            <a:off x="6736385" y="189738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</a:t>
            </a:r>
            <a:endParaRPr lang="en-US" sz="3000" dirty="0"/>
          </a:p>
        </p:txBody>
      </p:sp>
      <p:sp>
        <p:nvSpPr>
          <p:cNvPr id="67" name="Text 17"/>
          <p:cNvSpPr/>
          <p:nvPr/>
        </p:nvSpPr>
        <p:spPr>
          <a:xfrm>
            <a:off x="6736385" y="25831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68" name="Shape 18"/>
          <p:cNvSpPr/>
          <p:nvPr/>
        </p:nvSpPr>
        <p:spPr>
          <a:xfrm>
            <a:off x="9342425" y="171450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9" name="Text 19"/>
          <p:cNvSpPr/>
          <p:nvPr/>
        </p:nvSpPr>
        <p:spPr>
          <a:xfrm>
            <a:off x="9342425" y="189738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700</a:t>
            </a:r>
            <a:endParaRPr lang="en-US" sz="3000" dirty="0"/>
          </a:p>
        </p:txBody>
      </p:sp>
      <p:sp>
        <p:nvSpPr>
          <p:cNvPr id="70" name="Text 20"/>
          <p:cNvSpPr/>
          <p:nvPr/>
        </p:nvSpPr>
        <p:spPr>
          <a:xfrm>
            <a:off x="9342425" y="258318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Accounts</a:t>
            </a:r>
            <a:endParaRPr lang="en-US" sz="1200" dirty="0"/>
          </a:p>
        </p:txBody>
      </p:sp>
      <p:sp>
        <p:nvSpPr>
          <p:cNvPr id="71" name="Shape 21"/>
          <p:cNvSpPr/>
          <p:nvPr/>
        </p:nvSpPr>
        <p:spPr>
          <a:xfrm>
            <a:off x="6736385" y="3360420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2" name="Text 22"/>
          <p:cNvSpPr/>
          <p:nvPr/>
        </p:nvSpPr>
        <p:spPr>
          <a:xfrm>
            <a:off x="6736385" y="354330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5,000</a:t>
            </a:r>
            <a:endParaRPr lang="en-US" sz="3000" dirty="0"/>
          </a:p>
        </p:txBody>
      </p:sp>
      <p:sp>
        <p:nvSpPr>
          <p:cNvPr id="73" name="Text 23"/>
          <p:cNvSpPr/>
          <p:nvPr/>
        </p:nvSpPr>
        <p:spPr>
          <a:xfrm>
            <a:off x="6736385" y="42291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74" name="Shape 24"/>
          <p:cNvSpPr/>
          <p:nvPr/>
        </p:nvSpPr>
        <p:spPr>
          <a:xfrm>
            <a:off x="9326880" y="3355848"/>
            <a:ext cx="2377440" cy="1417320"/>
          </a:xfrm>
          <a:prstGeom prst="roundRect">
            <a:avLst>
              <a:gd name="adj" fmla="val 5161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5" name="Text 25"/>
          <p:cNvSpPr/>
          <p:nvPr/>
        </p:nvSpPr>
        <p:spPr>
          <a:xfrm>
            <a:off x="9342425" y="3543300"/>
            <a:ext cx="2377440" cy="6400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$35.9M</a:t>
            </a:r>
            <a:endParaRPr lang="en-US" sz="3000" dirty="0"/>
          </a:p>
        </p:txBody>
      </p:sp>
      <p:sp>
        <p:nvSpPr>
          <p:cNvPr id="76" name="Text 26"/>
          <p:cNvSpPr/>
          <p:nvPr/>
        </p:nvSpPr>
        <p:spPr>
          <a:xfrm>
            <a:off x="9342425" y="4238244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Transaction Value</a:t>
            </a:r>
            <a:endParaRPr lang="en-US" sz="1200" dirty="0"/>
          </a:p>
        </p:txBody>
      </p:sp>
      <p:pic>
        <p:nvPicPr>
          <p:cNvPr id="77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5" y="6300216"/>
            <a:ext cx="1371600" cy="283464"/>
          </a:xfrm>
          <a:prstGeom prst="rect">
            <a:avLst/>
          </a:prstGeom>
        </p:spPr>
      </p:pic>
      <p:sp>
        <p:nvSpPr>
          <p:cNvPr id="78" name="Text 27"/>
          <p:cNvSpPr/>
          <p:nvPr/>
        </p:nvSpPr>
        <p:spPr>
          <a:xfrm>
            <a:off x="11612880" y="6300216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000" dirty="0"/>
          </a:p>
        </p:txBody>
      </p:sp>
      <p:pic>
        <p:nvPicPr>
          <p:cNvPr id="37" name="~PP487.WAV">
            <a:hlinkClick r:id="" action="ppaction://media"/>
          </p:cNvPr>
          <p:cNvPicPr>
            <a:picLocks noRot="1" noChangeAspect="1"/>
          </p:cNvPicPr>
          <p:nvPr>
            <a:wavAudioFile r:embed="rId1" name="~PP487.WAV"/>
          </p:nvPr>
        </p:nvPicPr>
        <p:blipFill>
          <a:blip r:embed="rId4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33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4033" y="634136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pic>
        <p:nvPicPr>
          <p:cNvPr id="77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5" y="6300216"/>
            <a:ext cx="1371600" cy="283464"/>
          </a:xfrm>
          <a:prstGeom prst="rect">
            <a:avLst/>
          </a:prstGeom>
        </p:spPr>
      </p:pic>
      <p:sp>
        <p:nvSpPr>
          <p:cNvPr id="78" name="Text 27"/>
          <p:cNvSpPr/>
          <p:nvPr/>
        </p:nvSpPr>
        <p:spPr>
          <a:xfrm>
            <a:off x="11612880" y="6300216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3" name="Text 0"/>
          <p:cNvSpPr/>
          <p:nvPr/>
        </p:nvSpPr>
        <p:spPr>
          <a:xfrm>
            <a:off x="1097280" y="534924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 · CONTEXT</a:t>
            </a:r>
            <a:endParaRPr lang="en-US" sz="1200" dirty="0"/>
          </a:p>
        </p:txBody>
      </p:sp>
      <p:sp>
        <p:nvSpPr>
          <p:cNvPr id="84" name="Text 1"/>
          <p:cNvSpPr/>
          <p:nvPr/>
        </p:nvSpPr>
        <p:spPr>
          <a:xfrm>
            <a:off x="1097280" y="809244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Scenario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85" name="Text 2"/>
          <p:cNvSpPr/>
          <p:nvPr/>
        </p:nvSpPr>
        <p:spPr>
          <a:xfrm>
            <a:off x="503073" y="1449324"/>
            <a:ext cx="10789920" cy="9144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Retail banking touches nearly every part of a customer's financial life — deposits, cards, and loans — and each product generates its own stream of activity: transactions to process, balances to manage, and repayments to track.</a:t>
            </a:r>
            <a:endParaRPr lang="en-US" sz="1500" dirty="0"/>
          </a:p>
        </p:txBody>
      </p:sp>
      <p:sp>
        <p:nvSpPr>
          <p:cNvPr id="86" name="Shape 3"/>
          <p:cNvSpPr/>
          <p:nvPr/>
        </p:nvSpPr>
        <p:spPr>
          <a:xfrm>
            <a:off x="503073" y="2638044"/>
            <a:ext cx="3520440" cy="2834640"/>
          </a:xfrm>
          <a:prstGeom prst="roundRect">
            <a:avLst>
              <a:gd name="adj" fmla="val 2581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7" name="Shape 4"/>
          <p:cNvSpPr/>
          <p:nvPr/>
        </p:nvSpPr>
        <p:spPr>
          <a:xfrm>
            <a:off x="777393" y="2912364"/>
            <a:ext cx="457200" cy="73152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88" name="Text 5"/>
          <p:cNvSpPr/>
          <p:nvPr/>
        </p:nvSpPr>
        <p:spPr>
          <a:xfrm>
            <a:off x="777393" y="3140964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Branch Network</a:t>
            </a:r>
            <a:endParaRPr lang="en-US" sz="1600" dirty="0"/>
          </a:p>
        </p:txBody>
      </p:sp>
      <p:sp>
        <p:nvSpPr>
          <p:cNvPr id="89" name="Text 6"/>
          <p:cNvSpPr/>
          <p:nvPr/>
        </p:nvSpPr>
        <p:spPr>
          <a:xfrm>
            <a:off x="777393" y="3643884"/>
            <a:ext cx="2971800" cy="164592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A network of 40 branches across 5 regions serves 500 customers through 700 accounts, 600 cards, and 300 loans.</a:t>
            </a:r>
            <a:endParaRPr lang="en-US" sz="125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4297833" y="2638044"/>
            <a:ext cx="3520440" cy="2834640"/>
          </a:xfrm>
          <a:prstGeom prst="roundRect">
            <a:avLst>
              <a:gd name="adj" fmla="val 2581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1" name="Shape 8"/>
          <p:cNvSpPr/>
          <p:nvPr/>
        </p:nvSpPr>
        <p:spPr>
          <a:xfrm>
            <a:off x="4572153" y="2912364"/>
            <a:ext cx="457200" cy="73152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92" name="Text 9"/>
          <p:cNvSpPr/>
          <p:nvPr/>
        </p:nvSpPr>
        <p:spPr>
          <a:xfrm>
            <a:off x="4572153" y="3140964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Rising Activity</a:t>
            </a:r>
            <a:endParaRPr lang="en-US" sz="1600" dirty="0"/>
          </a:p>
        </p:txBody>
      </p:sp>
      <p:sp>
        <p:nvSpPr>
          <p:cNvPr id="93" name="Text 10"/>
          <p:cNvSpPr/>
          <p:nvPr/>
        </p:nvSpPr>
        <p:spPr>
          <a:xfrm>
            <a:off x="4572153" y="3643884"/>
            <a:ext cx="2971800" cy="164592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Transaction volume grew over 50% from 2022 (1,279) to 2024 (1,933), adding load on processing and support.</a:t>
            </a:r>
            <a:endParaRPr lang="en-US" sz="125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8092593" y="2638044"/>
            <a:ext cx="3520440" cy="2834640"/>
          </a:xfrm>
          <a:prstGeom prst="roundRect">
            <a:avLst>
              <a:gd name="adj" fmla="val 2581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5" name="Shape 12"/>
          <p:cNvSpPr/>
          <p:nvPr/>
        </p:nvSpPr>
        <p:spPr>
          <a:xfrm>
            <a:off x="8366913" y="2912364"/>
            <a:ext cx="457200" cy="73152"/>
          </a:xfrm>
          <a:prstGeom prst="rect">
            <a:avLst/>
          </a:prstGeom>
          <a:solidFill>
            <a:srgbClr val="C8102E"/>
          </a:solidFill>
        </p:spPr>
      </p:sp>
      <p:sp>
        <p:nvSpPr>
          <p:cNvPr id="96" name="Text 13"/>
          <p:cNvSpPr/>
          <p:nvPr/>
        </p:nvSpPr>
        <p:spPr>
          <a:xfrm>
            <a:off x="8366913" y="3140964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Mixed Outcomes</a:t>
            </a:r>
            <a:endParaRPr lang="en-US" sz="1600" dirty="0"/>
          </a:p>
        </p:txBody>
      </p:sp>
      <p:sp>
        <p:nvSpPr>
          <p:cNvPr id="97" name="Text 14"/>
          <p:cNvSpPr/>
          <p:nvPr/>
        </p:nvSpPr>
        <p:spPr>
          <a:xfrm>
            <a:off x="8366913" y="3643884"/>
            <a:ext cx="2971800" cy="164592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latin typeface="Times New Roman" pitchFamily="18" charset="0"/>
                <a:ea typeface="Arial" panose="020B0604020202020204" pitchFamily="34" charset="-122"/>
                <a:cs typeface="Times New Roman" pitchFamily="18" charset="0"/>
              </a:rPr>
              <a:t>Only 33.76% of transactions complete successfully — Failed (32.56%) and Pending (33.68%) are nearly as common.</a:t>
            </a:r>
            <a:endParaRPr lang="en-US" sz="125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11506048" y="6295644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26" name="~PP2768.WAV">
            <a:hlinkClick r:id="" action="ppaction://media"/>
          </p:cNvPr>
          <p:cNvPicPr>
            <a:picLocks noRot="1" noChangeAspect="1"/>
          </p:cNvPicPr>
          <p:nvPr>
            <a:wavAudioFile r:embed="rId1" name="~PP2768.WAV"/>
          </p:nvPr>
        </p:nvPicPr>
        <p:blipFill>
          <a:blip r:embed="rId4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10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2"/>
          <p:cNvSpPr/>
          <p:nvPr/>
        </p:nvSpPr>
        <p:spPr>
          <a:xfrm>
            <a:off x="1325880" y="5283220"/>
            <a:ext cx="6812280" cy="618744"/>
          </a:xfrm>
          <a:prstGeom prst="roundRect">
            <a:avLst>
              <a:gd name="adj" fmla="val 6522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2" name="Shape 2"/>
          <p:cNvSpPr/>
          <p:nvPr/>
        </p:nvSpPr>
        <p:spPr>
          <a:xfrm>
            <a:off x="1325880" y="4491675"/>
            <a:ext cx="6812280" cy="618744"/>
          </a:xfrm>
          <a:prstGeom prst="roundRect">
            <a:avLst>
              <a:gd name="adj" fmla="val 6522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1" name="Shape 2"/>
          <p:cNvSpPr/>
          <p:nvPr/>
        </p:nvSpPr>
        <p:spPr>
          <a:xfrm>
            <a:off x="1325880" y="2023878"/>
            <a:ext cx="6629400" cy="618744"/>
          </a:xfrm>
          <a:prstGeom prst="roundRect">
            <a:avLst>
              <a:gd name="adj" fmla="val 6522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325880"/>
            <a:ext cx="10104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8"/>
                </a:solidFill>
                <a:latin typeface="Arial"/>
              </a:rPr>
              <a:t>Customer Management — Maintain customer profiles, demographics, income and credit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847"/>
            <a:ext cx="1024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Account Management </a:t>
            </a:r>
            <a:endParaRPr lang="en-US" b="1" dirty="0" smtClean="0">
              <a:solidFill>
                <a:srgbClr val="262628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1" smtClean="0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cs typeface="Times New Roman" pitchFamily="18" charset="0"/>
              </a:rPr>
              <a:t>Track account types, balances, status and branch relationships</a:t>
            </a:r>
            <a:r>
              <a:rPr sz="14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491675"/>
            <a:ext cx="10104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Card Management </a:t>
            </a:r>
            <a:endParaRPr lang="en-US" sz="1600" b="1" dirty="0" smtClean="0">
              <a:solidFill>
                <a:srgbClr val="262628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1" smtClean="0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Maintain </a:t>
            </a:r>
            <a:r>
              <a:rPr sz="14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debit and credit card information linked to customer accounts.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16230"/>
            <a:ext cx="10104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Analytical Reporting </a:t>
            </a:r>
            <a:endParaRPr lang="en-US" sz="1400" b="1" dirty="0" smtClean="0">
              <a:solidFill>
                <a:srgbClr val="262628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1" smtClean="0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4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Generate reports for customer behaviour, product usage and banking performance.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sp>
        <p:nvSpPr>
          <p:cNvPr id="38" name="Text 0"/>
          <p:cNvSpPr/>
          <p:nvPr/>
        </p:nvSpPr>
        <p:spPr>
          <a:xfrm>
            <a:off x="1097280" y="534924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200" dirty="0" smtClean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 </a:t>
            </a:r>
            <a:r>
              <a:rPr lang="en-US" sz="1200" b="1" kern="0" spc="200" dirty="0">
                <a:solidFill>
                  <a:srgbClr val="C810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 CONTEXT</a:t>
            </a:r>
            <a:endParaRPr lang="en-US" sz="1200" dirty="0"/>
          </a:p>
        </p:txBody>
      </p:sp>
      <p:sp>
        <p:nvSpPr>
          <p:cNvPr id="39" name="Text 1"/>
          <p:cNvSpPr/>
          <p:nvPr/>
        </p:nvSpPr>
        <p:spPr>
          <a:xfrm>
            <a:off x="1005840" y="809244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</a:t>
            </a:r>
            <a:r>
              <a:rPr lang="en-US" sz="3000" b="1" dirty="0" smtClean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Objectives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44" name="Shape 2"/>
          <p:cNvSpPr/>
          <p:nvPr/>
        </p:nvSpPr>
        <p:spPr>
          <a:xfrm>
            <a:off x="1325880" y="2844672"/>
            <a:ext cx="6812280" cy="618744"/>
          </a:xfrm>
          <a:prstGeom prst="roundRect">
            <a:avLst>
              <a:gd name="adj" fmla="val 6522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5" name="TextBox 44"/>
          <p:cNvSpPr txBox="1"/>
          <p:nvPr/>
        </p:nvSpPr>
        <p:spPr>
          <a:xfrm>
            <a:off x="1325880" y="2844672"/>
            <a:ext cx="10104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Transaction Analysis</a:t>
            </a:r>
          </a:p>
          <a:p>
            <a:r>
              <a:rPr lang="en-US" sz="1400" b="1" dirty="0" smtClean="0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Record transaction type, amount, channel and transaction status.</a:t>
            </a:r>
            <a:endParaRPr sz="1400" b="1">
              <a:solidFill>
                <a:srgbClr val="26262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1325880" y="3650391"/>
            <a:ext cx="6812280" cy="618744"/>
          </a:xfrm>
          <a:prstGeom prst="roundRect">
            <a:avLst>
              <a:gd name="adj" fmla="val 6522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7" name="TextBox 46"/>
          <p:cNvSpPr txBox="1"/>
          <p:nvPr/>
        </p:nvSpPr>
        <p:spPr>
          <a:xfrm>
            <a:off x="1280160" y="3684360"/>
            <a:ext cx="10104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Loan Management</a:t>
            </a:r>
          </a:p>
          <a:p>
            <a:r>
              <a:rPr lang="en-US" sz="1400" b="1" dirty="0" smtClean="0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Monitor loans, outstanding balances, interest rates and repayment </a:t>
            </a:r>
            <a:r>
              <a:rPr lang="en-US" sz="1400" b="1" dirty="0" err="1" smtClean="0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behaviour</a:t>
            </a:r>
            <a:r>
              <a:rPr lang="en-US" sz="1400" b="1" dirty="0" smtClean="0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b="1" dirty="0">
              <a:solidFill>
                <a:srgbClr val="26262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" name="~PP703.WAV">
            <a:hlinkClick r:id="" action="ppaction://media"/>
          </p:cNvPr>
          <p:cNvPicPr>
            <a:picLocks noRot="1" noChangeAspect="1"/>
          </p:cNvPicPr>
          <p:nvPr>
            <a:wavAudioFile r:embed="rId1" name="~PP703.WAV"/>
          </p:nvPr>
        </p:nvPicPr>
        <p:blipFill>
          <a:blip r:embed="rId3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6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D21419"/>
                </a:solidFill>
                <a:latin typeface="Arial Narrow"/>
              </a:rPr>
              <a:t>ENTITY-RELATIONSHIP DIAGRAM:-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pic>
        <p:nvPicPr>
          <p:cNvPr id="45" name="Picture 44" descr="ER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586" y="938654"/>
            <a:ext cx="7083054" cy="5290696"/>
          </a:xfrm>
          <a:prstGeom prst="rect">
            <a:avLst/>
          </a:prstGeom>
        </p:spPr>
      </p:pic>
      <p:pic>
        <p:nvPicPr>
          <p:cNvPr id="10" name="~PP2453.WAV">
            <a:hlinkClick r:id="" action="ppaction://media"/>
          </p:cNvPr>
          <p:cNvPicPr>
            <a:picLocks noRot="1" noChangeAspect="1"/>
          </p:cNvPicPr>
          <p:nvPr>
            <a:wavAudioFile r:embed="rId1" name="~PP2453.WAV"/>
          </p:nvPr>
        </p:nvPicPr>
        <p:blipFill>
          <a:blip r:embed="rId4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3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635169"/>
            <a:ext cx="10515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DATABASE SCHEMA OVERVIEW:-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03717"/>
            <a:ext cx="10378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Customers:- Stores personal details, location, customer segment, income and credit 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07221"/>
            <a:ext cx="10378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Accounts:- Stores account type, branch, opening details, balance and account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10725"/>
            <a:ext cx="10378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Branches:- Contains branch name, city, state, region and manager information.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14229"/>
            <a:ext cx="10378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Transactions:- Records banking transactions including amount, type, channel and status.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17733"/>
            <a:ext cx="10378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Loans:- Stores loan details, interest rates, outstanding balances and loan status.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21237"/>
            <a:ext cx="10378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Loan Payments:- Tracks payment amount, penalties, days late and repayment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4741"/>
            <a:ext cx="10378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8"/>
                </a:solidFill>
                <a:latin typeface="Times New Roman" pitchFamily="18" charset="0"/>
                <a:cs typeface="Times New Roman" pitchFamily="18" charset="0"/>
              </a:rPr>
              <a:t>Cards:- Stores debit/credit card details, network, limits and active status.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pic>
        <p:nvPicPr>
          <p:cNvPr id="16" name="~PP248.WAV">
            <a:hlinkClick r:id="" action="ppaction://media"/>
          </p:cNvPr>
          <p:cNvPicPr>
            <a:picLocks noRot="1" noChangeAspect="1"/>
          </p:cNvPicPr>
          <p:nvPr>
            <a:wavAudioFile r:embed="rId1" name="~PP248.WAV"/>
          </p:nvPr>
        </p:nvPicPr>
        <p:blipFill>
          <a:blip r:embed="rId3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5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D21419"/>
                </a:solidFill>
                <a:latin typeface="Arial Narrow"/>
              </a:rPr>
              <a:t>SQL QUERIES: BANKING INSIGHTS:-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1.What are the different customer segments, and how many customers belong to each segment?</a:t>
            </a:r>
            <a:endParaRPr b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5413247" cy="1422400"/>
          </a:xfrm>
          <a:prstGeom prst="roundRect">
            <a:avLst/>
          </a:prstGeom>
          <a:solidFill>
            <a:srgbClr val="F5F7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68289"/>
            <a:ext cx="524865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Consolas"/>
              </a:rPr>
              <a:t>SELECT 	</a:t>
            </a:r>
          </a:p>
          <a:p>
            <a:r>
              <a:rPr lang="en-US" sz="1400" dirty="0" smtClean="0">
                <a:latin typeface="Consolas"/>
              </a:rPr>
              <a:t>	Segment,     </a:t>
            </a:r>
          </a:p>
          <a:p>
            <a:r>
              <a:rPr lang="en-US" sz="1400" dirty="0" smtClean="0">
                <a:latin typeface="Consolas"/>
              </a:rPr>
              <a:t>	COUNT(*) AS </a:t>
            </a:r>
            <a:r>
              <a:rPr lang="en-US" sz="1400" dirty="0" err="1" smtClean="0">
                <a:latin typeface="Consolas"/>
              </a:rPr>
              <a:t>Customer_Count</a:t>
            </a:r>
            <a:endParaRPr lang="en-US" sz="1400" dirty="0" smtClean="0">
              <a:latin typeface="Consolas"/>
            </a:endParaRPr>
          </a:p>
          <a:p>
            <a:r>
              <a:rPr lang="en-US" sz="1400" dirty="0" smtClean="0">
                <a:latin typeface="Consolas"/>
              </a:rPr>
              <a:t>FROM customers</a:t>
            </a:r>
          </a:p>
          <a:p>
            <a:r>
              <a:rPr lang="en-US" sz="1400" dirty="0" smtClean="0">
                <a:latin typeface="Consolas"/>
              </a:rPr>
              <a:t>GROUP BY Segment;</a:t>
            </a:r>
            <a:endParaRPr sz="1400"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21419"/>
                </a:solidFill>
                <a:latin typeface="Arial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21960" y="3337560"/>
          <a:ext cx="5008880" cy="256032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504440"/>
                <a:gridCol w="250444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Segment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 err="1" smtClean="0"/>
                        <a:t>Customer_count</a:t>
                      </a:r>
                      <a:endParaRPr lang="en-US" b="1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Business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97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Premium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Senior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73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4" name="~PP2389.WAV">
            <a:hlinkClick r:id="" action="ppaction://media"/>
          </p:cNvPr>
          <p:cNvPicPr>
            <a:picLocks noRot="1" noChangeAspect="1"/>
          </p:cNvPicPr>
          <p:nvPr>
            <a:wavAudioFile r:embed="rId1" name="~PP2389.WAV"/>
          </p:nvPr>
        </p:nvPicPr>
        <p:blipFill>
          <a:blip r:embed="rId3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8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D21419"/>
                </a:solidFill>
                <a:latin typeface="Arial Narrow"/>
              </a:rPr>
              <a:t>SQL QUERIES: BANKING INSIGHTS:-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21419"/>
                </a:solidFill>
                <a:latin typeface="Arial"/>
              </a:rPr>
              <a:t>2. How many accounts exist for each account type and what is the total balance?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120640" cy="1554479"/>
          </a:xfrm>
          <a:prstGeom prst="roundRect">
            <a:avLst/>
          </a:prstGeom>
          <a:solidFill>
            <a:srgbClr val="F5F7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09928"/>
            <a:ext cx="4791455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latin typeface="Consolas"/>
              </a:rPr>
              <a:t>SELECT </a:t>
            </a:r>
            <a:endParaRPr lang="en-US" sz="1050" dirty="0" smtClean="0">
              <a:latin typeface="Consolas"/>
            </a:endParaRPr>
          </a:p>
          <a:p>
            <a:r>
              <a:rPr lang="en-US" sz="1050" dirty="0" smtClean="0">
                <a:latin typeface="Consolas"/>
              </a:rPr>
              <a:t>	</a:t>
            </a:r>
            <a:r>
              <a:rPr sz="1050" smtClean="0">
                <a:latin typeface="Consolas"/>
              </a:rPr>
              <a:t>account_type</a:t>
            </a:r>
            <a:r>
              <a:rPr sz="1050">
                <a:latin typeface="Consolas"/>
              </a:rPr>
              <a:t>, </a:t>
            </a:r>
            <a:endParaRPr lang="en-US" sz="1050" dirty="0" smtClean="0">
              <a:latin typeface="Consolas"/>
            </a:endParaRPr>
          </a:p>
          <a:p>
            <a:r>
              <a:rPr lang="en-US" sz="1050" dirty="0" smtClean="0">
                <a:latin typeface="Consolas"/>
              </a:rPr>
              <a:t>	</a:t>
            </a:r>
            <a:r>
              <a:rPr sz="1050" smtClean="0">
                <a:latin typeface="Consolas"/>
              </a:rPr>
              <a:t>COUNT</a:t>
            </a:r>
            <a:r>
              <a:rPr sz="1050">
                <a:latin typeface="Consolas"/>
              </a:rPr>
              <a:t>(*) AS accounts,
SUM(current_balance) AS total_balance
FROM accounts
GROUP BY account_type
ORDER BY total_balance DESC;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97880" y="1554480"/>
          <a:ext cx="5394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30044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rial"/>
                        </a:rPr>
                        <a:t>account_type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rial"/>
                        </a:rPr>
                        <a:t>Accounts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chemeClr val="tx1"/>
                          </a:solidFill>
                          <a:latin typeface="Arial"/>
                        </a:rPr>
                        <a:t>Total_Balance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2,894,008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Certificate of Deposit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2,602,682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Business Checking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2,062,364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Money Market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1,654,751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Savings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576,190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450"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Checking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62628"/>
                          </a:solidFill>
                          <a:latin typeface="Arial"/>
                        </a:rPr>
                        <a:t>408,284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37947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21419"/>
                </a:solidFill>
                <a:latin typeface="Arial"/>
              </a:rPr>
              <a:t>3. Retrieve customers who do not have any active account.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120640" cy="1508760"/>
          </a:xfrm>
          <a:prstGeom prst="roundRect">
            <a:avLst/>
          </a:prstGeom>
          <a:solidFill>
            <a:srgbClr val="F5F7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407408"/>
            <a:ext cx="47914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latin typeface="Consolas"/>
              </a:rPr>
              <a:t>SELECT </a:t>
            </a:r>
            <a:endParaRPr lang="en-US" sz="1050" dirty="0" smtClean="0">
              <a:latin typeface="Consolas"/>
            </a:endParaRPr>
          </a:p>
          <a:p>
            <a:r>
              <a:rPr lang="en-US" sz="1050" dirty="0" smtClean="0">
                <a:latin typeface="Consolas"/>
              </a:rPr>
              <a:t>	</a:t>
            </a:r>
            <a:r>
              <a:rPr sz="1050" smtClean="0">
                <a:latin typeface="Consolas"/>
              </a:rPr>
              <a:t>c.customer_id</a:t>
            </a:r>
            <a:r>
              <a:rPr sz="1050">
                <a:latin typeface="Consolas"/>
              </a:rPr>
              <a:t>, </a:t>
            </a:r>
            <a:endParaRPr lang="en-US" sz="1050" dirty="0" smtClean="0">
              <a:latin typeface="Consolas"/>
            </a:endParaRPr>
          </a:p>
          <a:p>
            <a:r>
              <a:rPr lang="en-US" sz="1050" dirty="0" smtClean="0">
                <a:latin typeface="Consolas"/>
              </a:rPr>
              <a:t>	</a:t>
            </a:r>
            <a:r>
              <a:rPr sz="1050" smtClean="0">
                <a:latin typeface="Consolas"/>
              </a:rPr>
              <a:t>c.first_name</a:t>
            </a:r>
            <a:r>
              <a:rPr sz="1050">
                <a:latin typeface="Consolas"/>
              </a:rPr>
              <a:t>, </a:t>
            </a:r>
            <a:endParaRPr lang="en-US" sz="1050" dirty="0" smtClean="0">
              <a:latin typeface="Consolas"/>
            </a:endParaRPr>
          </a:p>
          <a:p>
            <a:r>
              <a:rPr lang="en-US" sz="1050" dirty="0" smtClean="0">
                <a:latin typeface="Consolas"/>
              </a:rPr>
              <a:t>	</a:t>
            </a:r>
            <a:r>
              <a:rPr sz="1050" smtClean="0">
                <a:latin typeface="Consolas"/>
              </a:rPr>
              <a:t>c.last_name</a:t>
            </a:r>
            <a:r>
              <a:rPr sz="1050">
                <a:latin typeface="Consolas"/>
              </a:rPr>
              <a:t>
FROM customers c
LEFT JOIN accounts a
ON c.customer_id=a.customer_id AND a.status='Active'
WHERE a.account_id IS NULL;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40780" y="4160520"/>
          <a:ext cx="40462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</a:tblGrid>
              <a:tr h="1778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62628"/>
                          </a:solidFill>
                          <a:latin typeface="Arial"/>
                        </a:rPr>
                        <a:t>customer_id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62628"/>
                          </a:solidFill>
                          <a:latin typeface="Arial"/>
                        </a:rPr>
                        <a:t>first_name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62628"/>
                          </a:solidFill>
                          <a:latin typeface="Arial"/>
                        </a:rPr>
                        <a:t>last_name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C000003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Xiao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C000005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Vijay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Jung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C000007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Jason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Koné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C000008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Cynthia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Wu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C000011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Laura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Kim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C000012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Alexander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Smith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C000013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Sandra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Kim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C000014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Sharon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Gonzalez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pic>
        <p:nvPicPr>
          <p:cNvPr id="17" name="~PP3935.WAV">
            <a:hlinkClick r:id="" action="ppaction://media"/>
          </p:cNvPr>
          <p:cNvPicPr>
            <a:picLocks noRot="1" noChangeAspect="1"/>
          </p:cNvPicPr>
          <p:nvPr>
            <a:wavAudioFile r:embed="rId1" name="~PP3935.WAV"/>
          </p:nvPr>
        </p:nvPicPr>
        <p:blipFill>
          <a:blip r:embed="rId3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2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D21419"/>
                </a:solidFill>
                <a:latin typeface="Arial Narrow"/>
              </a:rPr>
              <a:t>SQL QUERIES: BANKING INSIGHTS:-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21419"/>
                </a:solidFill>
                <a:latin typeface="Arial"/>
              </a:rPr>
              <a:t>4. For each transaction channel, retrieve transaction count and total transaction amount.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120640" cy="1645920"/>
          </a:xfrm>
          <a:prstGeom prst="roundRect">
            <a:avLst/>
          </a:prstGeom>
          <a:solidFill>
            <a:srgbClr val="F5F7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664207"/>
            <a:ext cx="4791455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A6370"/>
                </a:solidFill>
                <a:latin typeface="Consolas"/>
              </a:rPr>
              <a:t>SELECT channel, COUNT(*) AS transactions,
SUM(amount) AS total_amount
FROM transactions
GROUP BY channel
ORDER BY transactions DESC;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97880" y="1508760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261257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628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628"/>
                          </a:solidFill>
                          <a:latin typeface="Arial"/>
                        </a:rPr>
                        <a:t>Transactions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628"/>
                          </a:solidFill>
                          <a:latin typeface="Arial"/>
                        </a:rPr>
                        <a:t>Total_Amount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Online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1470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10,948,892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1144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7,989,209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Mobile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7,476,419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ATM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857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5,939,130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1,963,521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Wire Transfer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1,574,036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37033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21419"/>
                </a:solidFill>
                <a:latin typeface="Arial"/>
              </a:rPr>
              <a:t>5. For each branch, retrieve the number of loans and total outstanding balance.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120640" cy="1554480"/>
          </a:xfrm>
          <a:prstGeom prst="roundRect">
            <a:avLst/>
          </a:prstGeom>
          <a:solidFill>
            <a:srgbClr val="F5F7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270248"/>
            <a:ext cx="4791455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A6370"/>
                </a:solidFill>
                <a:latin typeface="Consolas"/>
              </a:rPr>
              <a:t>SELECT b.branch_name, COUNT(l.loan_id) AS loans,
SUM(l.outstanding_balance) AS outstanding
FROM branches b JOIN loans l
ON b.branch_id=l.branch_id
GROUP BY b.branch_name
ORDER BY loans DESC;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897880" y="3977639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2032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62628"/>
                          </a:solidFill>
                          <a:latin typeface="Arial"/>
                        </a:rPr>
                        <a:t>branch_name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62628"/>
                          </a:solidFill>
                          <a:latin typeface="Arial"/>
                        </a:rPr>
                        <a:t>Loans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262628"/>
                          </a:solidFill>
                          <a:latin typeface="Arial"/>
                        </a:rPr>
                        <a:t>Outstanding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Jacksonville 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6,550,194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Washington 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3,797,633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Atlanta 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4,278,692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Memphis 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3,071,759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San Diego 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2,580,257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Boston 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2,542,675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Austin 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2,893,215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Los Angeles Branch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262628"/>
                          </a:solidFill>
                          <a:latin typeface="Arial"/>
                        </a:rPr>
                        <a:t>3,217,550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pic>
        <p:nvPicPr>
          <p:cNvPr id="17" name="~PP1886.WAV">
            <a:hlinkClick r:id="" action="ppaction://media"/>
          </p:cNvPr>
          <p:cNvPicPr>
            <a:picLocks noRot="1" noChangeAspect="1"/>
          </p:cNvPicPr>
          <p:nvPr>
            <a:wavAudioFile r:embed="rId1" name="~PP1886.WAV"/>
          </p:nvPr>
        </p:nvPicPr>
        <p:blipFill>
          <a:blip r:embed="rId3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66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D21419"/>
                </a:solidFill>
                <a:latin typeface="Arial Narrow"/>
              </a:rPr>
              <a:t>SQL QUERIES: BANKING INSIGHTS:-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21419"/>
                </a:solidFill>
                <a:latin typeface="Arial"/>
              </a:rPr>
              <a:t>6. Retrieve customers who have more than one bank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120640" cy="1463040"/>
          </a:xfrm>
          <a:prstGeom prst="roundRect">
            <a:avLst/>
          </a:prstGeom>
          <a:solidFill>
            <a:srgbClr val="F5F7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618488"/>
            <a:ext cx="479145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A6370"/>
                </a:solidFill>
                <a:latin typeface="Consolas"/>
              </a:rPr>
              <a:t>SELECT </a:t>
            </a:r>
            <a:endParaRPr lang="en-US" sz="1050" dirty="0" smtClean="0">
              <a:solidFill>
                <a:srgbClr val="4A6370"/>
              </a:solidFill>
              <a:latin typeface="Consolas"/>
            </a:endParaRPr>
          </a:p>
          <a:p>
            <a:r>
              <a:rPr lang="en-US" sz="1050" dirty="0" smtClean="0">
                <a:solidFill>
                  <a:srgbClr val="4A6370"/>
                </a:solidFill>
                <a:latin typeface="Consolas"/>
              </a:rPr>
              <a:t>	</a:t>
            </a:r>
            <a:r>
              <a:rPr sz="1050" smtClean="0">
                <a:solidFill>
                  <a:srgbClr val="4A6370"/>
                </a:solidFill>
                <a:latin typeface="Consolas"/>
              </a:rPr>
              <a:t>customer_id</a:t>
            </a:r>
            <a:r>
              <a:rPr sz="1050">
                <a:solidFill>
                  <a:srgbClr val="4A6370"/>
                </a:solidFill>
                <a:latin typeface="Consolas"/>
              </a:rPr>
              <a:t>, COUNT(*) AS account_count
FROM accounts
GROUP BY customer_id
HAVING COUNT(*) &gt; 1
ORDER BY account_count DESC;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97880" y="1417320"/>
          <a:ext cx="5394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19304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628"/>
                          </a:solidFill>
                          <a:latin typeface="Arial"/>
                        </a:rPr>
                        <a:t>first_name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628"/>
                          </a:solidFill>
                          <a:latin typeface="Arial"/>
                        </a:rPr>
                        <a:t>last_name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62628"/>
                          </a:solidFill>
                          <a:latin typeface="Arial"/>
                        </a:rPr>
                        <a:t>account_count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</a:tr>
              <a:tr h="19304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Anna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Jones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Pooja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Garcia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Janet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Jones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Brenda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Hall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Liam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Choi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Dorothy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Lei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04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Christopher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Iyer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262628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3520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21419"/>
                </a:solidFill>
                <a:latin typeface="Arial"/>
              </a:rPr>
              <a:t>7. For each loan type, retrieve the number of loans and total outstanding balance.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120640" cy="1554480"/>
          </a:xfrm>
          <a:prstGeom prst="roundRect">
            <a:avLst/>
          </a:prstGeom>
          <a:solidFill>
            <a:srgbClr val="F5F7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133088"/>
            <a:ext cx="4791455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A6370"/>
                </a:solidFill>
                <a:latin typeface="Consolas"/>
              </a:rPr>
              <a:t>SELECT loan_type, COUNT(*) AS loans,
SUM(outstanding_balance) AS outstanding
FROM loans
GROUP BY loan_type
ORDER BY outstanding DESC;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897880" y="3840480"/>
          <a:ext cx="53949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26778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62628"/>
                          </a:solidFill>
                          <a:latin typeface="Arial"/>
                        </a:rPr>
                        <a:t>loan_type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62628"/>
                          </a:solidFill>
                          <a:latin typeface="Arial"/>
                        </a:rPr>
                        <a:t>Loans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62628"/>
                          </a:solidFill>
                          <a:latin typeface="Arial"/>
                        </a:rPr>
                        <a:t>Outstanding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9"/>
                    </a:solidFill>
                  </a:tcPr>
                </a:tc>
              </a:tr>
              <a:tr h="2677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Education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10,937,738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7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Business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10,056,248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7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Home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8,364,122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7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Credit Builder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8,300,285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7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8,107,013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791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Personal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62628"/>
                          </a:solidFill>
                          <a:latin typeface="Arial"/>
                        </a:rPr>
                        <a:t>7,676,486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pic>
        <p:nvPicPr>
          <p:cNvPr id="17" name="~PP2900.WAV">
            <a:hlinkClick r:id="" action="ppaction://media"/>
          </p:cNvPr>
          <p:cNvPicPr>
            <a:picLocks noRot="1" noChangeAspect="1"/>
          </p:cNvPicPr>
          <p:nvPr>
            <a:wavAudioFile r:embed="rId1" name="~PP2900.WAV"/>
          </p:nvPr>
        </p:nvPicPr>
        <p:blipFill>
          <a:blip r:embed="rId3"/>
          <a:stretch>
            <a:fillRect/>
          </a:stretch>
        </p:blipFill>
        <p:spPr>
          <a:xfrm>
            <a:off x="11815763" y="6481763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advTm="49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6858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D21419"/>
                </a:solidFill>
                <a:latin typeface="Arial Narrow"/>
              </a:rPr>
              <a:t>KEY INSIGHTS:-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7239" y="1303020"/>
            <a:ext cx="992124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450" b="0">
                <a:solidFill>
                  <a:srgbClr val="262628"/>
                </a:solidFill>
                <a:latin typeface="Arial"/>
              </a:rPr>
              <a:t>Customer segments provide a foundation for targeted banking products and personalized offers.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7239" y="1997964"/>
            <a:ext cx="992124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450" b="0">
                <a:solidFill>
                  <a:srgbClr val="262628"/>
                </a:solidFill>
                <a:latin typeface="Arial"/>
              </a:rPr>
              <a:t>Account balances differ significantly by account type, helping identify high-value products.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7239" y="2692908"/>
            <a:ext cx="992124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450" b="0">
                <a:solidFill>
                  <a:srgbClr val="262628"/>
                </a:solidFill>
                <a:latin typeface="Arial"/>
              </a:rPr>
              <a:t>Transaction analysis reveals how customers use banking channels and services.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7239" y="3387852"/>
            <a:ext cx="992124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450" b="0">
                <a:solidFill>
                  <a:srgbClr val="262628"/>
                </a:solidFill>
                <a:latin typeface="Arial"/>
              </a:rPr>
              <a:t>Branch-level loan reporting supports portfolio monitoring and regional comparisons.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7239" y="4082796"/>
            <a:ext cx="992124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450" b="0">
                <a:solidFill>
                  <a:srgbClr val="262628"/>
                </a:solidFill>
                <a:latin typeface="Arial"/>
              </a:rPr>
              <a:t>Multi-account customers indicate cross-selling and deeper product engagement opportunities.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7239" y="4777740"/>
            <a:ext cx="992124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450" b="0">
                <a:solidFill>
                  <a:srgbClr val="262628"/>
                </a:solidFill>
                <a:latin typeface="Arial"/>
              </a:rPr>
              <a:t>Loan outstanding analysis helps management focus on larger credit exposures.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D21419"/>
                </a:solidFill>
                <a:latin typeface="Arial Narrow"/>
              </a:rPr>
              <a:t>KEY INSIGHTS:-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21419"/>
                </a:solidFill>
                <a:latin typeface="Arial"/>
              </a:rPr>
              <a:t>BANKING PERFORMANCE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9738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600" b="0">
                <a:solidFill>
                  <a:srgbClr val="262628"/>
                </a:solidFill>
                <a:latin typeface="Arial"/>
              </a:rPr>
              <a:t>Online is the most frequently used transaction channel in the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61488"/>
            <a:ext cx="9738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600" b="0">
                <a:solidFill>
                  <a:srgbClr val="262628"/>
                </a:solidFill>
                <a:latin typeface="Arial"/>
              </a:rPr>
              <a:t>IRA accounts contribute the highest total account balance.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11296"/>
            <a:ext cx="9738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600" b="0">
                <a:solidFill>
                  <a:srgbClr val="262628"/>
                </a:solidFill>
                <a:latin typeface="Arial"/>
              </a:rPr>
              <a:t>Education loans carry the largest outstanding balance.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61104"/>
            <a:ext cx="9738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600" b="0">
                <a:solidFill>
                  <a:srgbClr val="262628"/>
                </a:solidFill>
                <a:latin typeface="Arial"/>
              </a:rPr>
              <a:t>Customers with multiple accounts represent a strong opportunity for relationship banking.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10912"/>
            <a:ext cx="9738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1600" b="0">
                <a:solidFill>
                  <a:srgbClr val="262628"/>
                </a:solidFill>
                <a:latin typeface="Arial"/>
              </a:rPr>
              <a:t>Loan repayment records can be used to identify late and missed payment patterns.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572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D21419"/>
                </a:solidFill>
                <a:latin typeface="Arial Narrow"/>
              </a:rPr>
              <a:t>CHALLENGES FACED:-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1419"/>
                </a:solidFill>
                <a:latin typeface="Arial"/>
              </a:rPr>
              <a:t>Designing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1" y="1280160"/>
            <a:ext cx="795527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smtClean="0">
                <a:solidFill>
                  <a:srgbClr val="262628"/>
                </a:solidFill>
                <a:latin typeface="Arial"/>
              </a:rPr>
              <a:t> </a:t>
            </a:r>
            <a:r>
              <a:rPr sz="1350" b="0">
                <a:solidFill>
                  <a:srgbClr val="262628"/>
                </a:solidFill>
                <a:latin typeface="Arial"/>
              </a:rPr>
              <a:t>Establishing relationships among seven tables using primary and foreign keys.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1419"/>
                </a:solidFill>
                <a:latin typeface="Arial"/>
              </a:rPr>
              <a:t>Data 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1" y="2057400"/>
            <a:ext cx="795527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smtClean="0">
                <a:solidFill>
                  <a:srgbClr val="262628"/>
                </a:solidFill>
                <a:latin typeface="Arial"/>
              </a:rPr>
              <a:t>Maintaining </a:t>
            </a:r>
            <a:r>
              <a:rPr sz="1350" b="0">
                <a:solidFill>
                  <a:srgbClr val="262628"/>
                </a:solidFill>
                <a:latin typeface="Arial"/>
              </a:rPr>
              <a:t>referential integrity across connected banking tables.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1419"/>
                </a:solidFill>
                <a:latin typeface="Arial"/>
              </a:rPr>
              <a:t>Complex SQL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1" y="2834640"/>
            <a:ext cx="795527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smtClean="0">
                <a:solidFill>
                  <a:srgbClr val="262628"/>
                </a:solidFill>
                <a:latin typeface="Arial"/>
              </a:rPr>
              <a:t>Writing </a:t>
            </a:r>
            <a:r>
              <a:rPr sz="1350" b="0">
                <a:solidFill>
                  <a:srgbClr val="262628"/>
                </a:solidFill>
                <a:latin typeface="Arial"/>
              </a:rPr>
              <a:t>multi-table JOIN and aggregate queries for analytical reporting.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1419"/>
                </a:solidFill>
                <a:latin typeface="Arial"/>
              </a:rPr>
              <a:t>Financial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1" y="3611880"/>
            <a:ext cx="795527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smtClean="0">
                <a:solidFill>
                  <a:srgbClr val="262628"/>
                </a:solidFill>
                <a:latin typeface="Arial"/>
              </a:rPr>
              <a:t>Handling </a:t>
            </a:r>
            <a:r>
              <a:rPr sz="1350" b="0">
                <a:solidFill>
                  <a:srgbClr val="262628"/>
                </a:solidFill>
                <a:latin typeface="Arial"/>
              </a:rPr>
              <a:t>balances, transaction amounts, outstanding loans and repayments.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1419"/>
                </a:solidFill>
                <a:latin typeface="Arial"/>
              </a:rPr>
              <a:t>Query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1" y="4389120"/>
            <a:ext cx="795527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smtClean="0">
                <a:solidFill>
                  <a:srgbClr val="262628"/>
                </a:solidFill>
                <a:latin typeface="Arial"/>
              </a:rPr>
              <a:t>Organizing </a:t>
            </a:r>
            <a:r>
              <a:rPr sz="1350" b="0">
                <a:solidFill>
                  <a:srgbClr val="262628"/>
                </a:solidFill>
                <a:latin typeface="Arial"/>
              </a:rPr>
              <a:t>queries efficiently for grouped and customer-level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21419"/>
                </a:solidFill>
                <a:latin typeface="Arial"/>
              </a:rP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1" y="5166360"/>
            <a:ext cx="795527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smtClean="0">
                <a:solidFill>
                  <a:srgbClr val="262628"/>
                </a:solidFill>
                <a:latin typeface="Arial"/>
              </a:rPr>
              <a:t> </a:t>
            </a:r>
            <a:r>
              <a:rPr sz="1350" b="0">
                <a:solidFill>
                  <a:srgbClr val="262628"/>
                </a:solidFill>
                <a:latin typeface="Arial"/>
              </a:rPr>
              <a:t>Using realistic datasets to validate SQL outputs and insights.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351314" y="1463040"/>
            <a:ext cx="66620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2732315" y="2217420"/>
            <a:ext cx="513806" cy="99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017520" y="2985796"/>
            <a:ext cx="25690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608216" y="3748782"/>
            <a:ext cx="66620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698567" y="4525347"/>
            <a:ext cx="637905" cy="138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713409" y="5327780"/>
            <a:ext cx="1623063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D21419"/>
                </a:solidFill>
                <a:latin typeface="Arial Narrow"/>
              </a:rPr>
              <a:t>CONCLUSION:-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62628"/>
                </a:solidFill>
                <a:latin typeface="Arial"/>
              </a:rPr>
              <a:t>The Retail Banking Transaction Analysis project provides a structured database solution for managing and analysing customer, account, transaction, loan and card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1419"/>
                </a:solidFill>
                <a:latin typeface="Arial"/>
              </a:rPr>
              <a:t>Key achievements include: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973836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sz="1450" b="0">
                <a:solidFill>
                  <a:srgbClr val="262628"/>
                </a:solidFill>
                <a:latin typeface="Arial"/>
              </a:rPr>
              <a:t>Well-structured relational database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60"/>
            <a:ext cx="973836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sz="1450" b="0">
                <a:solidFill>
                  <a:srgbClr val="262628"/>
                </a:solidFill>
                <a:latin typeface="Arial"/>
              </a:rPr>
              <a:t>Proper implementation of primary and foreign keys.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973836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sz="1450" b="0">
                <a:solidFill>
                  <a:srgbClr val="262628"/>
                </a:solidFill>
                <a:latin typeface="Arial"/>
              </a:rPr>
              <a:t>Successful execution of analytical SQL queries.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973836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sz="1450" b="0">
                <a:solidFill>
                  <a:srgbClr val="262628"/>
                </a:solidFill>
                <a:latin typeface="Arial"/>
              </a:rPr>
              <a:t>Improved visibility into customer behaviour and banking products.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973836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sz="1450" b="0">
                <a:solidFill>
                  <a:srgbClr val="262628"/>
                </a:solidFill>
                <a:latin typeface="Arial"/>
              </a:rPr>
              <a:t>Insights into transactions, balances, loans and product engagement.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49240"/>
            <a:ext cx="973836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sz="1450" b="0">
                <a:solidFill>
                  <a:srgbClr val="262628"/>
                </a:solidFill>
                <a:latin typeface="Arial"/>
              </a:rPr>
              <a:t>Scalable architecture that can support future dashboards and advanced analytics.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355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05050"/>
                </a:solidFill>
                <a:latin typeface="Arial"/>
              </a:rPr>
              <a:t>RETAIL BANKING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0" y="0"/>
            <a:ext cx="320040" cy="219456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28600" y="0"/>
            <a:ext cx="320040" cy="146304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502920" y="0"/>
            <a:ext cx="320040" cy="114300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1384280" y="5577840"/>
            <a:ext cx="594360" cy="1188720"/>
          </a:xfrm>
          <a:prstGeom prst="parallelogram">
            <a:avLst/>
          </a:prstGeom>
          <a:solidFill>
            <a:srgbClr val="D2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11704320" y="5806440"/>
            <a:ext cx="457200" cy="914400"/>
          </a:xfrm>
          <a:prstGeom prst="parallelogram">
            <a:avLst/>
          </a:prstGeom>
          <a:solidFill>
            <a:srgbClr val="26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5817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0">
                <a:solidFill>
                  <a:srgbClr val="D21419"/>
                </a:solidFill>
                <a:latin typeface="Times New Roman"/>
              </a:rPr>
              <a:t>THANK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587619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0">
                <a:solidFill>
                  <a:srgbClr val="D21419"/>
                </a:solidFill>
                <a:latin typeface="Times New Roman"/>
              </a:rPr>
              <a:t>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6400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62628"/>
                </a:solidFill>
                <a:latin typeface="Arial"/>
              </a:rPr>
              <a:t>RETAIL BANKING ANALYTICS</a:t>
            </a:r>
          </a:p>
        </p:txBody>
      </p:sp>
      <p:pic>
        <p:nvPicPr>
          <p:cNvPr id="13" name="Image 0" descr="assets/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401" y="2194560"/>
            <a:ext cx="4215571" cy="26765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1237</Words>
  <Application>Microsoft Macintosh PowerPoint</Application>
  <PresentationFormat>Custom</PresentationFormat>
  <Paragraphs>312</Paragraphs>
  <Slides>16</Slides>
  <Notes>0</Notes>
  <HiddenSlides>0</HiddenSlides>
  <MMClips>11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ss</cp:lastModifiedBy>
  <cp:revision>3</cp:revision>
  <dcterms:created xsi:type="dcterms:W3CDTF">2013-01-27T09:14:16Z</dcterms:created>
  <dcterms:modified xsi:type="dcterms:W3CDTF">2026-09-13T08:03:01Z</dcterms:modified>
  <cp:category/>
</cp:coreProperties>
</file>